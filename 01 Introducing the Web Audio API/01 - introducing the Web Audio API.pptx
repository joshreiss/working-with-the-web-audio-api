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RJa7aPokJ4Khxw1STX+uQRHVy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None/>
            </a:pPr>
            <a:r>
              <a:rPr b="1" lang="en-GB">
                <a:latin typeface="Courier New"/>
                <a:ea typeface="Courier New"/>
                <a:cs typeface="Courier New"/>
                <a:sym typeface="Courier New"/>
              </a:rPr>
              <a:t>MediaElementAudioSourceNode or </a:t>
            </a:r>
            <a:r>
              <a:rPr lang="en-GB" sz="1200"/>
              <a:t>Audio​Buffer​Source​Node</a:t>
            </a:r>
            <a:endParaRPr/>
          </a:p>
          <a:p>
            <a:pPr indent="0" lvl="2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– e.g., </a:t>
            </a:r>
            <a:r>
              <a:rPr b="1" lang="en-GB">
                <a:latin typeface="Courier New"/>
                <a:ea typeface="Courier New"/>
                <a:cs typeface="Courier New"/>
                <a:sym typeface="Courier New"/>
              </a:rPr>
              <a:t>&lt;audio&gt;</a:t>
            </a:r>
            <a:endParaRPr/>
          </a:p>
          <a:p>
            <a:pPr indent="0" lvl="2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urier New"/>
                <a:ea typeface="Courier New"/>
                <a:cs typeface="Courier New"/>
                <a:sym typeface="Courier New"/>
              </a:rPr>
              <a:t>MediaStreamAudioSourceNode</a:t>
            </a:r>
            <a:r>
              <a:rPr lang="en-GB"/>
              <a:t> – WebRTC media stream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2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urier New"/>
                <a:ea typeface="Courier New"/>
                <a:cs typeface="Courier New"/>
                <a:sym typeface="Courier New"/>
              </a:rPr>
              <a:t>AudioListener</a:t>
            </a:r>
            <a:r>
              <a:rPr lang="en-GB"/>
              <a:t> – position the sound in space</a:t>
            </a:r>
            <a:endParaRPr/>
          </a:p>
          <a:p>
            <a:pPr indent="0" lvl="2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urier New"/>
                <a:ea typeface="Courier New"/>
                <a:cs typeface="Courier New"/>
                <a:sym typeface="Courier New"/>
              </a:rPr>
              <a:t>PannerNode</a:t>
            </a:r>
            <a:r>
              <a:rPr lang="en-GB"/>
              <a:t> – signal behavior in space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831851" y="1709742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831851" y="4589467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839788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6172202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6172202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2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2" type="sldNum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/>
          <p:nvPr>
            <p:ph idx="2" type="pic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3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 rot="5400000">
            <a:off x="7133433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 rot="5400000">
            <a:off x="1799433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joshreiss/Working-with-the-Web-Audio-API" TargetMode="External"/><Relationship Id="rId4" Type="http://schemas.openxmlformats.org/officeDocument/2006/relationships/hyperlink" Target="https://joshreiss.github.io/Working-with-the-Web-Audio-API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joshreiss/Working-with-the-Web-Audio-API" TargetMode="External"/><Relationship Id="rId4" Type="http://schemas.openxmlformats.org/officeDocument/2006/relationships/hyperlink" Target="https://joshreiss.github.io/Working-with-the-Web-Audio-AP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E2F3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GB"/>
              <a:t>Introducing the Web Audio API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838200" y="1"/>
            <a:ext cx="10515600" cy="964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Introducing the Web Audio API</a:t>
            </a:r>
            <a:endParaRPr/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838200" y="1009053"/>
            <a:ext cx="10515600" cy="42487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594" lvl="0" marL="228594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/>
              <a:t>High level API for handling audio in the browser</a:t>
            </a:r>
            <a:endParaRPr/>
          </a:p>
          <a:p>
            <a:pPr indent="-228594" lvl="0" marL="228594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/>
              <a:t>Signal flow development environment</a:t>
            </a:r>
            <a:endParaRPr/>
          </a:p>
          <a:p>
            <a:pPr indent="-228593" lvl="1" marL="685783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/>
              <a:t>like LabView, Simulink, Unreal’s BluePrint, PureData or Max MSP</a:t>
            </a:r>
            <a:endParaRPr/>
          </a:p>
          <a:p>
            <a:pPr indent="-228593" lvl="1" marL="685783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/>
              <a:t>But text-based JavaScript, not graphical</a:t>
            </a:r>
            <a:endParaRPr/>
          </a:p>
          <a:p>
            <a:pPr indent="-228594" lvl="0" marL="228594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/>
              <a:t>Handle audio inside an </a:t>
            </a:r>
            <a:r>
              <a:rPr b="1" lang="en-GB"/>
              <a:t>audio context</a:t>
            </a:r>
            <a:endParaRPr/>
          </a:p>
          <a:p>
            <a:pPr indent="-228594" lvl="0" marL="228594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/>
              <a:t>Audio operations performed by connecting </a:t>
            </a:r>
            <a:r>
              <a:rPr b="1" lang="en-GB"/>
              <a:t>audio nodes</a:t>
            </a:r>
            <a:endParaRPr/>
          </a:p>
          <a:p>
            <a:pPr indent="-228593" lvl="1" marL="685783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/>
              <a:t>Sources</a:t>
            </a:r>
            <a:endParaRPr/>
          </a:p>
          <a:p>
            <a:pPr indent="-228593" lvl="1" marL="685783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/>
              <a:t>Processing</a:t>
            </a:r>
            <a:endParaRPr/>
          </a:p>
          <a:p>
            <a:pPr indent="-228593" lvl="1" marL="685783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/>
              <a:t>Destinations</a:t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5572580" y="4981229"/>
            <a:ext cx="1332000" cy="504000"/>
          </a:xfrm>
          <a:prstGeom prst="rect">
            <a:avLst/>
          </a:prstGeom>
          <a:gradFill>
            <a:gsLst>
              <a:gs pos="0">
                <a:srgbClr val="A6B6DE"/>
              </a:gs>
              <a:gs pos="50000">
                <a:srgbClr val="98AAD9"/>
              </a:gs>
              <a:gs pos="100000">
                <a:srgbClr val="859CD7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AudioNode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2"/>
          <p:cNvCxnSpPr>
            <a:stCxn id="96" idx="3"/>
            <a:endCxn id="98" idx="1"/>
          </p:cNvCxnSpPr>
          <p:nvPr/>
        </p:nvCxnSpPr>
        <p:spPr>
          <a:xfrm>
            <a:off x="6904580" y="5233229"/>
            <a:ext cx="912300" cy="3615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lg" w="lg" type="stealth"/>
          </a:ln>
        </p:spPr>
      </p:cxnSp>
      <p:sp>
        <p:nvSpPr>
          <p:cNvPr id="99" name="Google Shape;99;p2"/>
          <p:cNvSpPr/>
          <p:nvPr/>
        </p:nvSpPr>
        <p:spPr>
          <a:xfrm>
            <a:off x="4450492" y="4114800"/>
            <a:ext cx="7208108" cy="2107471"/>
          </a:xfrm>
          <a:prstGeom prst="rect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4689566" y="4268109"/>
            <a:ext cx="16062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AudioContext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 rot="-1500000">
            <a:off x="6845161" y="4703580"/>
            <a:ext cx="9361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</a:t>
            </a:r>
            <a:endParaRPr/>
          </a:p>
        </p:txBody>
      </p:sp>
      <p:grpSp>
        <p:nvGrpSpPr>
          <p:cNvPr id="102" name="Google Shape;102;p2"/>
          <p:cNvGrpSpPr/>
          <p:nvPr/>
        </p:nvGrpSpPr>
        <p:grpSpPr>
          <a:xfrm>
            <a:off x="7816974" y="4619782"/>
            <a:ext cx="1332000" cy="1226901"/>
            <a:chOff x="5747217" y="4129631"/>
            <a:chExt cx="1332000" cy="1226901"/>
          </a:xfrm>
        </p:grpSpPr>
        <p:sp>
          <p:nvSpPr>
            <p:cNvPr id="98" name="Google Shape;98;p2"/>
            <p:cNvSpPr/>
            <p:nvPr/>
          </p:nvSpPr>
          <p:spPr>
            <a:xfrm>
              <a:off x="5747217" y="4852532"/>
              <a:ext cx="1332000" cy="504000"/>
            </a:xfrm>
            <a:prstGeom prst="rect">
              <a:avLst/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AudioNode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5747217" y="4129631"/>
              <a:ext cx="1332000" cy="504000"/>
            </a:xfrm>
            <a:prstGeom prst="rect">
              <a:avLst/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AudioNode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4" name="Google Shape;104;p2"/>
          <p:cNvCxnSpPr>
            <a:stCxn id="96" idx="3"/>
            <a:endCxn id="103" idx="1"/>
          </p:cNvCxnSpPr>
          <p:nvPr/>
        </p:nvCxnSpPr>
        <p:spPr>
          <a:xfrm flipH="1" rot="10800000">
            <a:off x="6904580" y="4871729"/>
            <a:ext cx="912300" cy="3615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lg" w="lg" type="stealth"/>
          </a:ln>
        </p:spPr>
      </p:cxnSp>
      <p:sp>
        <p:nvSpPr>
          <p:cNvPr id="105" name="Google Shape;105;p2"/>
          <p:cNvSpPr/>
          <p:nvPr/>
        </p:nvSpPr>
        <p:spPr>
          <a:xfrm>
            <a:off x="10025509" y="4981229"/>
            <a:ext cx="1332000" cy="504000"/>
          </a:xfrm>
          <a:prstGeom prst="rect">
            <a:avLst/>
          </a:prstGeom>
          <a:gradFill>
            <a:gsLst>
              <a:gs pos="0">
                <a:srgbClr val="A6B6DE"/>
              </a:gs>
              <a:gs pos="50000">
                <a:srgbClr val="98AAD9"/>
              </a:gs>
              <a:gs pos="100000">
                <a:srgbClr val="859CD7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AudioNode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 rot="1378275">
            <a:off x="6857809" y="5329032"/>
            <a:ext cx="9361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</a:t>
            </a:r>
            <a:endParaRPr/>
          </a:p>
        </p:txBody>
      </p:sp>
      <p:cxnSp>
        <p:nvCxnSpPr>
          <p:cNvPr id="107" name="Google Shape;107;p2"/>
          <p:cNvCxnSpPr>
            <a:stCxn id="103" idx="3"/>
            <a:endCxn id="105" idx="1"/>
          </p:cNvCxnSpPr>
          <p:nvPr/>
        </p:nvCxnSpPr>
        <p:spPr>
          <a:xfrm>
            <a:off x="9148974" y="4871782"/>
            <a:ext cx="876600" cy="3615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lg" w="lg" type="stealth"/>
          </a:ln>
        </p:spPr>
      </p:cxnSp>
      <p:cxnSp>
        <p:nvCxnSpPr>
          <p:cNvPr id="108" name="Google Shape;108;p2"/>
          <p:cNvCxnSpPr>
            <a:stCxn id="98" idx="3"/>
            <a:endCxn id="105" idx="1"/>
          </p:cNvCxnSpPr>
          <p:nvPr/>
        </p:nvCxnSpPr>
        <p:spPr>
          <a:xfrm flipH="1" rot="10800000">
            <a:off x="9148974" y="5233183"/>
            <a:ext cx="876600" cy="3615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lg" w="lg" type="stealth"/>
          </a:ln>
        </p:spPr>
      </p:cxnSp>
      <p:sp>
        <p:nvSpPr>
          <p:cNvPr id="109" name="Google Shape;109;p2"/>
          <p:cNvSpPr/>
          <p:nvPr/>
        </p:nvSpPr>
        <p:spPr>
          <a:xfrm rot="-1513230">
            <a:off x="9119165" y="5372357"/>
            <a:ext cx="9361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 rot="1378275">
            <a:off x="9086402" y="4692714"/>
            <a:ext cx="9361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>
            <p:ph type="ctrTitle"/>
          </p:nvPr>
        </p:nvSpPr>
        <p:spPr>
          <a:xfrm>
            <a:off x="1496218" y="648340"/>
            <a:ext cx="9144000" cy="6906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GB" sz="3600"/>
              <a:t>Audio graph</a:t>
            </a:r>
            <a:br>
              <a:rPr lang="en-GB" sz="3600"/>
            </a:br>
            <a:endParaRPr/>
          </a:p>
        </p:txBody>
      </p:sp>
      <p:grpSp>
        <p:nvGrpSpPr>
          <p:cNvPr id="116" name="Google Shape;116;p3"/>
          <p:cNvGrpSpPr/>
          <p:nvPr/>
        </p:nvGrpSpPr>
        <p:grpSpPr>
          <a:xfrm>
            <a:off x="138846" y="1749083"/>
            <a:ext cx="11992879" cy="2239443"/>
            <a:chOff x="511949" y="1749084"/>
            <a:chExt cx="9925923" cy="1853478"/>
          </a:xfrm>
        </p:grpSpPr>
        <p:sp>
          <p:nvSpPr>
            <p:cNvPr id="117" name="Google Shape;117;p3"/>
            <p:cNvSpPr/>
            <p:nvPr/>
          </p:nvSpPr>
          <p:spPr>
            <a:xfrm>
              <a:off x="2486887" y="2475502"/>
              <a:ext cx="1291134" cy="282435"/>
            </a:xfrm>
            <a:prstGeom prst="rect">
              <a:avLst/>
            </a:prstGeom>
            <a:solidFill>
              <a:srgbClr val="7F7F7F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gainNode</a:t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4179912" y="2233528"/>
              <a:ext cx="1291134" cy="394972"/>
            </a:xfrm>
            <a:prstGeom prst="rect">
              <a:avLst/>
            </a:prstGeom>
            <a:solidFill>
              <a:srgbClr val="7F7F7F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BiquadNode</a:t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Peaking</a:t>
              </a: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4179912" y="1749084"/>
              <a:ext cx="1291134" cy="394972"/>
            </a:xfrm>
            <a:prstGeom prst="rect">
              <a:avLst/>
            </a:prstGeom>
            <a:solidFill>
              <a:srgbClr val="7F7F7F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BiquadNode</a:t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Lowshelf</a:t>
              </a:r>
              <a:endParaRPr i="1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4179912" y="2742326"/>
              <a:ext cx="1291134" cy="394972"/>
            </a:xfrm>
            <a:prstGeom prst="rect">
              <a:avLst/>
            </a:prstGeom>
            <a:solidFill>
              <a:srgbClr val="7F7F7F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BiquadNode</a:t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Peaking</a:t>
              </a:r>
              <a:endParaRPr/>
            </a:p>
          </p:txBody>
        </p:sp>
        <p:cxnSp>
          <p:nvCxnSpPr>
            <p:cNvPr id="121" name="Google Shape;121;p3"/>
            <p:cNvCxnSpPr>
              <a:stCxn id="117" idx="0"/>
            </p:cNvCxnSpPr>
            <p:nvPr/>
          </p:nvCxnSpPr>
          <p:spPr>
            <a:xfrm flipH="1" rot="10800000">
              <a:off x="3132454" y="1890202"/>
              <a:ext cx="1089000" cy="5853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22" name="Google Shape;122;p3"/>
            <p:cNvCxnSpPr>
              <a:stCxn id="117" idx="3"/>
            </p:cNvCxnSpPr>
            <p:nvPr/>
          </p:nvCxnSpPr>
          <p:spPr>
            <a:xfrm flipH="1" rot="10800000">
              <a:off x="3778021" y="2374620"/>
              <a:ext cx="443400" cy="2421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23" name="Google Shape;123;p3"/>
            <p:cNvCxnSpPr>
              <a:stCxn id="117" idx="3"/>
            </p:cNvCxnSpPr>
            <p:nvPr/>
          </p:nvCxnSpPr>
          <p:spPr>
            <a:xfrm>
              <a:off x="3778021" y="2616720"/>
              <a:ext cx="443400" cy="2667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24" name="Google Shape;124;p3"/>
            <p:cNvCxnSpPr>
              <a:stCxn id="118" idx="3"/>
              <a:endCxn id="125" idx="1"/>
            </p:cNvCxnSpPr>
            <p:nvPr/>
          </p:nvCxnSpPr>
          <p:spPr>
            <a:xfrm>
              <a:off x="5471046" y="2431014"/>
              <a:ext cx="450300" cy="1857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26" name="Google Shape;126;p3"/>
            <p:cNvCxnSpPr>
              <a:stCxn id="119" idx="3"/>
              <a:endCxn id="125" idx="0"/>
            </p:cNvCxnSpPr>
            <p:nvPr/>
          </p:nvCxnSpPr>
          <p:spPr>
            <a:xfrm>
              <a:off x="5471046" y="1946570"/>
              <a:ext cx="1194300" cy="5289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27" name="Google Shape;127;p3"/>
            <p:cNvCxnSpPr>
              <a:stCxn id="120" idx="3"/>
              <a:endCxn id="125" idx="1"/>
            </p:cNvCxnSpPr>
            <p:nvPr/>
          </p:nvCxnSpPr>
          <p:spPr>
            <a:xfrm flipH="1" rot="10800000">
              <a:off x="5471046" y="2616712"/>
              <a:ext cx="450300" cy="3231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28" name="Google Shape;128;p3"/>
            <p:cNvSpPr/>
            <p:nvPr/>
          </p:nvSpPr>
          <p:spPr>
            <a:xfrm>
              <a:off x="4179912" y="3207590"/>
              <a:ext cx="1291134" cy="394972"/>
            </a:xfrm>
            <a:prstGeom prst="rect">
              <a:avLst/>
            </a:prstGeom>
            <a:solidFill>
              <a:srgbClr val="7F7F7F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BiquadNode</a:t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Highshelf</a:t>
              </a:r>
              <a:endParaRPr i="1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9" name="Google Shape;129;p3"/>
            <p:cNvCxnSpPr>
              <a:stCxn id="117" idx="2"/>
            </p:cNvCxnSpPr>
            <p:nvPr/>
          </p:nvCxnSpPr>
          <p:spPr>
            <a:xfrm>
              <a:off x="3132454" y="2757937"/>
              <a:ext cx="1089000" cy="5910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30" name="Google Shape;130;p3"/>
            <p:cNvCxnSpPr>
              <a:stCxn id="128" idx="3"/>
              <a:endCxn id="125" idx="2"/>
            </p:cNvCxnSpPr>
            <p:nvPr/>
          </p:nvCxnSpPr>
          <p:spPr>
            <a:xfrm flipH="1" rot="10800000">
              <a:off x="5471046" y="2757976"/>
              <a:ext cx="1194300" cy="6471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31" name="Google Shape;131;p3"/>
            <p:cNvSpPr/>
            <p:nvPr/>
          </p:nvSpPr>
          <p:spPr>
            <a:xfrm>
              <a:off x="511949" y="2391581"/>
              <a:ext cx="1643572" cy="464311"/>
            </a:xfrm>
            <a:prstGeom prst="rect">
              <a:avLst/>
            </a:prstGeom>
            <a:solidFill>
              <a:srgbClr val="7F7F7F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audioWorkletNode</a:t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whiteNoise</a:t>
              </a:r>
              <a:endParaRPr i="1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2" name="Google Shape;132;p3"/>
            <p:cNvCxnSpPr>
              <a:stCxn id="131" idx="3"/>
              <a:endCxn id="117" idx="1"/>
            </p:cNvCxnSpPr>
            <p:nvPr/>
          </p:nvCxnSpPr>
          <p:spPr>
            <a:xfrm flipH="1" rot="10800000">
              <a:off x="2155521" y="2616837"/>
              <a:ext cx="331500" cy="69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25" name="Google Shape;125;p3"/>
            <p:cNvSpPr/>
            <p:nvPr/>
          </p:nvSpPr>
          <p:spPr>
            <a:xfrm>
              <a:off x="5921405" y="2475502"/>
              <a:ext cx="1487970" cy="282435"/>
            </a:xfrm>
            <a:prstGeom prst="rect">
              <a:avLst/>
            </a:prstGeom>
            <a:solidFill>
              <a:srgbClr val="7F7F7F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waveshaperNode</a:t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9318784" y="2475502"/>
              <a:ext cx="1119088" cy="282435"/>
            </a:xfrm>
            <a:prstGeom prst="rect">
              <a:avLst/>
            </a:prstGeom>
            <a:solidFill>
              <a:srgbClr val="7F7F7F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destination</a:t>
              </a:r>
              <a:endParaRPr/>
            </a:p>
          </p:txBody>
        </p:sp>
        <p:cxnSp>
          <p:nvCxnSpPr>
            <p:cNvPr id="134" name="Google Shape;134;p3"/>
            <p:cNvCxnSpPr>
              <a:endCxn id="133" idx="1"/>
            </p:cNvCxnSpPr>
            <p:nvPr/>
          </p:nvCxnSpPr>
          <p:spPr>
            <a:xfrm>
              <a:off x="8991484" y="2616720"/>
              <a:ext cx="327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35" name="Google Shape;135;p3"/>
            <p:cNvSpPr/>
            <p:nvPr/>
          </p:nvSpPr>
          <p:spPr>
            <a:xfrm>
              <a:off x="7710488" y="2478416"/>
              <a:ext cx="1360781" cy="282435"/>
            </a:xfrm>
            <a:prstGeom prst="rect">
              <a:avLst/>
            </a:prstGeom>
            <a:solidFill>
              <a:srgbClr val="7F7F7F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convolverNode</a:t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6" name="Google Shape;136;p3"/>
            <p:cNvCxnSpPr>
              <a:endCxn id="135" idx="1"/>
            </p:cNvCxnSpPr>
            <p:nvPr/>
          </p:nvCxnSpPr>
          <p:spPr>
            <a:xfrm>
              <a:off x="7328588" y="2619634"/>
              <a:ext cx="381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37" name="Google Shape;137;p3"/>
            <p:cNvSpPr/>
            <p:nvPr/>
          </p:nvSpPr>
          <p:spPr>
            <a:xfrm>
              <a:off x="1881507" y="3291075"/>
              <a:ext cx="1895180" cy="282435"/>
            </a:xfrm>
            <a:prstGeom prst="rect">
              <a:avLst/>
            </a:prstGeom>
            <a:solidFill>
              <a:srgbClr val="C00000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setValueCurveAtTime</a:t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6448745" y="3197352"/>
              <a:ext cx="987430" cy="282435"/>
            </a:xfrm>
            <a:prstGeom prst="rect">
              <a:avLst/>
            </a:prstGeom>
            <a:solidFill>
              <a:srgbClr val="C00000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curve</a:t>
              </a:r>
              <a:endParaRPr/>
            </a:p>
          </p:txBody>
        </p:sp>
        <p:cxnSp>
          <p:nvCxnSpPr>
            <p:cNvPr id="139" name="Google Shape;139;p3"/>
            <p:cNvCxnSpPr>
              <a:stCxn id="138" idx="0"/>
            </p:cNvCxnSpPr>
            <p:nvPr/>
          </p:nvCxnSpPr>
          <p:spPr>
            <a:xfrm rot="10800000">
              <a:off x="6942460" y="2753652"/>
              <a:ext cx="0" cy="4437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40" name="Google Shape;140;p3"/>
            <p:cNvCxnSpPr>
              <a:stCxn id="137" idx="0"/>
            </p:cNvCxnSpPr>
            <p:nvPr/>
          </p:nvCxnSpPr>
          <p:spPr>
            <a:xfrm rot="10800000">
              <a:off x="2829097" y="2742375"/>
              <a:ext cx="0" cy="5487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41" name="Google Shape;141;p3"/>
            <p:cNvSpPr/>
            <p:nvPr/>
          </p:nvSpPr>
          <p:spPr>
            <a:xfrm>
              <a:off x="7899071" y="3207590"/>
              <a:ext cx="987430" cy="282435"/>
            </a:xfrm>
            <a:prstGeom prst="rect">
              <a:avLst/>
            </a:prstGeom>
            <a:solidFill>
              <a:srgbClr val="C00000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buffer</a:t>
              </a:r>
              <a:endParaRPr/>
            </a:p>
          </p:txBody>
        </p:sp>
        <p:cxnSp>
          <p:nvCxnSpPr>
            <p:cNvPr id="142" name="Google Shape;142;p3"/>
            <p:cNvCxnSpPr>
              <a:stCxn id="141" idx="0"/>
              <a:endCxn id="135" idx="2"/>
            </p:cNvCxnSpPr>
            <p:nvPr/>
          </p:nvCxnSpPr>
          <p:spPr>
            <a:xfrm rot="10800000">
              <a:off x="8390986" y="2760890"/>
              <a:ext cx="1800" cy="4467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 txBox="1"/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Web Audio Nodes</a:t>
            </a:r>
            <a:endParaRPr/>
          </a:p>
        </p:txBody>
      </p:sp>
      <p:sp>
        <p:nvSpPr>
          <p:cNvPr id="149" name="Google Shape;149;p4"/>
          <p:cNvSpPr txBox="1"/>
          <p:nvPr>
            <p:ph idx="1" type="body"/>
          </p:nvPr>
        </p:nvSpPr>
        <p:spPr>
          <a:xfrm>
            <a:off x="304800" y="1371600"/>
            <a:ext cx="5410200" cy="3962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Sources</a:t>
            </a:r>
            <a:endParaRPr/>
          </a:p>
          <a:p>
            <a:pPr indent="-228594" lvl="0" marL="228594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Scheduled sources</a:t>
            </a:r>
            <a:endParaRPr/>
          </a:p>
          <a:p>
            <a:pPr indent="-228594" lvl="1" marL="685783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Audio​Buffer​Source​Node</a:t>
            </a:r>
            <a:endParaRPr/>
          </a:p>
          <a:p>
            <a:pPr indent="-228594" lvl="1" marL="685783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Constant​Source​Node</a:t>
            </a:r>
            <a:endParaRPr/>
          </a:p>
          <a:p>
            <a:pPr indent="-228594" lvl="1" marL="685783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Oscillator​Node</a:t>
            </a:r>
            <a:endParaRPr/>
          </a:p>
          <a:p>
            <a:pPr indent="-228594" lvl="0" marL="228594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Media​Element​Audio​Source​Node</a:t>
            </a:r>
            <a:endParaRPr/>
          </a:p>
          <a:p>
            <a:pPr indent="-228594" lvl="0" marL="228594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Media​Stream​Audio​Source​Node</a:t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6477000" y="1371600"/>
            <a:ext cx="5562598" cy="3962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Destinations</a:t>
            </a:r>
            <a:endParaRPr/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output</a:t>
            </a:r>
            <a:endParaRPr/>
          </a:p>
          <a:p>
            <a: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Audio​Destination​Node</a:t>
            </a:r>
            <a:endParaRPr/>
          </a:p>
          <a:p>
            <a: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Media​Stream​Audio​Destination​Node</a:t>
            </a:r>
            <a:endParaRPr/>
          </a:p>
          <a:p>
            <a:pPr indent="-13335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Optional output</a:t>
            </a:r>
            <a:endParaRPr/>
          </a:p>
          <a:p>
            <a: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Analyser​Node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 txBox="1"/>
          <p:nvPr>
            <p:ph type="title"/>
          </p:nvPr>
        </p:nvSpPr>
        <p:spPr>
          <a:xfrm>
            <a:off x="1738747" y="77535"/>
            <a:ext cx="95873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Intermediate nodes</a:t>
            </a:r>
            <a:endParaRPr/>
          </a:p>
        </p:txBody>
      </p:sp>
      <p:sp>
        <p:nvSpPr>
          <p:cNvPr id="157" name="Google Shape;157;p5"/>
          <p:cNvSpPr txBox="1"/>
          <p:nvPr>
            <p:ph idx="1" type="body"/>
          </p:nvPr>
        </p:nvSpPr>
        <p:spPr>
          <a:xfrm>
            <a:off x="457200" y="1743938"/>
            <a:ext cx="5150449" cy="40472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GB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Effects processing</a:t>
            </a:r>
            <a:endParaRPr/>
          </a:p>
          <a:p>
            <a:pPr indent="-228594" lvl="1" marL="685783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en-GB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Gain​Node</a:t>
            </a:r>
            <a:endParaRPr/>
          </a:p>
          <a:p>
            <a:pPr indent="-228594" lvl="1" marL="685783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en-GB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Delay​Node</a:t>
            </a:r>
            <a:endParaRPr/>
          </a:p>
          <a:p>
            <a:pPr indent="-228594" lvl="1" marL="685783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en-GB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Biquad​Filter​Node</a:t>
            </a:r>
            <a:endParaRPr/>
          </a:p>
          <a:p>
            <a:pPr indent="-228594" lvl="1" marL="685783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en-GB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IIRFilter​Node</a:t>
            </a:r>
            <a:endParaRPr/>
          </a:p>
          <a:p>
            <a:pPr indent="-228594" lvl="1" marL="685783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en-GB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Convolver​Node</a:t>
            </a:r>
            <a:endParaRPr/>
          </a:p>
          <a:p>
            <a:pPr indent="-228594" lvl="1" marL="685783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en-GB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Wave​Shaper​Node</a:t>
            </a:r>
            <a:endParaRPr/>
          </a:p>
          <a:p>
            <a:pPr indent="-228594" lvl="1" marL="685783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en-GB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Dynamics​Compressor​Node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6781800" y="1977671"/>
            <a:ext cx="4343400" cy="355481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Spatial processing</a:t>
            </a:r>
            <a:endParaRPr/>
          </a:p>
          <a:p>
            <a:pPr indent="-228600" lvl="1" marL="685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-"/>
            </a:pPr>
            <a:r>
              <a:rPr b="0" i="0" lang="en-GB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Channel​Merger​Node   </a:t>
            </a:r>
            <a:endParaRPr/>
          </a:p>
          <a:p>
            <a:pPr indent="-228600" lvl="1" marL="685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-"/>
            </a:pPr>
            <a:r>
              <a:rPr b="0" i="0" lang="en-GB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Channel​Splitter​Node</a:t>
            </a:r>
            <a:endParaRPr/>
          </a:p>
          <a:p>
            <a:pPr indent="-228600" lvl="1" marL="685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-"/>
            </a:pPr>
            <a:r>
              <a:rPr b="0" i="0" lang="en-GB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Stereo​Panner​Node</a:t>
            </a:r>
            <a:endParaRPr/>
          </a:p>
          <a:p>
            <a:pPr indent="-228600" lvl="1" marL="685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-"/>
            </a:pPr>
            <a:r>
              <a:rPr b="0" i="0" lang="en-GB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PannerNode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GB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Audio​Listener</a:t>
            </a:r>
            <a:endParaRPr/>
          </a:p>
          <a:p>
            <a:pPr indent="-88900" lvl="2" marL="1143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"/>
          <p:cNvSpPr txBox="1"/>
          <p:nvPr>
            <p:ph idx="1" type="body"/>
          </p:nvPr>
        </p:nvSpPr>
        <p:spPr>
          <a:xfrm>
            <a:off x="363552" y="877865"/>
            <a:ext cx="11596179" cy="5903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2000"/>
              <a:t>A context object must be created first</a:t>
            </a:r>
            <a:endParaRPr/>
          </a:p>
          <a:p>
            <a:pPr indent="0" lvl="1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GB" sz="180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var </a:t>
            </a: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context= </a:t>
            </a:r>
            <a:r>
              <a:rPr b="1" lang="en-GB" sz="180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AudioContext();</a:t>
            </a:r>
            <a:endParaRPr/>
          </a:p>
          <a:p>
            <a:pPr indent="0" lvl="1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2000"/>
              <a:t>Context must be resumed (or created) after user interaction on the page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GB" sz="180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&lt;button onclick="context.resume()"&gt;Start&lt;/button&gt;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2000"/>
              <a:t>Within the context, audio nodes are created</a:t>
            </a:r>
            <a:endParaRPr/>
          </a:p>
          <a:p>
            <a:pPr indent="0" lvl="1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GB" sz="180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var </a:t>
            </a: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Tone= context.</a:t>
            </a:r>
            <a:r>
              <a:rPr b="1" lang="en-GB" sz="180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createOscillator()</a:t>
            </a: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/>
          </a:p>
          <a:p>
            <a:pPr indent="0" lvl="1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GB" sz="180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var </a:t>
            </a: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Volume= context.</a:t>
            </a:r>
            <a:r>
              <a:rPr b="1" lang="en-GB" sz="180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createGain()</a:t>
            </a: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2000"/>
              <a:t>Node parameters are set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  Volume.gain.value=0.25;</a:t>
            </a:r>
            <a:endParaRPr b="1"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i="1" lang="en-GB" sz="2100"/>
              <a:t>Or </a:t>
            </a:r>
            <a:r>
              <a:rPr lang="en-GB" sz="2100"/>
              <a:t>could set parameters when node is created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20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180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var </a:t>
            </a: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Volume= </a:t>
            </a:r>
            <a:r>
              <a:rPr b="1" lang="en-GB" sz="180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GainNode(context,{gain:0.25});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2000"/>
              <a:t>Source nodes need to be started</a:t>
            </a:r>
            <a:endParaRPr/>
          </a:p>
          <a:p>
            <a:pPr indent="0" lvl="1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  Tone</a:t>
            </a:r>
            <a:r>
              <a:rPr b="1" lang="en-GB" sz="180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.start</a:t>
            </a: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2000"/>
              <a:t>Nodes are connected together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GB" sz="180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Tone</a:t>
            </a:r>
            <a:r>
              <a:rPr b="1" lang="en-GB" sz="180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.connect</a:t>
            </a: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(Volume);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GB" sz="180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Volume</a:t>
            </a:r>
            <a:r>
              <a:rPr b="1" lang="en-GB" sz="180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.connect</a:t>
            </a: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(context.Destination);</a:t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4" name="Google Shape;164;p6"/>
          <p:cNvSpPr txBox="1"/>
          <p:nvPr>
            <p:ph type="title"/>
          </p:nvPr>
        </p:nvSpPr>
        <p:spPr>
          <a:xfrm>
            <a:off x="838200" y="1"/>
            <a:ext cx="10515600" cy="877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Web Audio API Hello World</a:t>
            </a:r>
            <a:endParaRPr/>
          </a:p>
        </p:txBody>
      </p:sp>
      <p:grpSp>
        <p:nvGrpSpPr>
          <p:cNvPr id="165" name="Google Shape;165;p6"/>
          <p:cNvGrpSpPr/>
          <p:nvPr/>
        </p:nvGrpSpPr>
        <p:grpSpPr>
          <a:xfrm>
            <a:off x="6574473" y="3280120"/>
            <a:ext cx="5057321" cy="576000"/>
            <a:chOff x="1963619" y="4600617"/>
            <a:chExt cx="5057321" cy="576000"/>
          </a:xfrm>
        </p:grpSpPr>
        <p:sp>
          <p:nvSpPr>
            <p:cNvPr id="166" name="Google Shape;166;p6"/>
            <p:cNvSpPr/>
            <p:nvPr/>
          </p:nvSpPr>
          <p:spPr>
            <a:xfrm>
              <a:off x="1963619" y="4600617"/>
              <a:ext cx="1080000" cy="576000"/>
            </a:xfrm>
            <a:prstGeom prst="rect">
              <a:avLst/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Tone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6"/>
            <p:cNvSpPr/>
            <p:nvPr/>
          </p:nvSpPr>
          <p:spPr>
            <a:xfrm>
              <a:off x="3816994" y="4600617"/>
              <a:ext cx="1080000" cy="576000"/>
            </a:xfrm>
            <a:prstGeom prst="rect">
              <a:avLst/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Volume</a:t>
              </a:r>
              <a:endParaRPr/>
            </a:p>
          </p:txBody>
        </p:sp>
        <p:sp>
          <p:nvSpPr>
            <p:cNvPr id="168" name="Google Shape;168;p6"/>
            <p:cNvSpPr/>
            <p:nvPr/>
          </p:nvSpPr>
          <p:spPr>
            <a:xfrm>
              <a:off x="5616940" y="4600617"/>
              <a:ext cx="1404000" cy="576000"/>
            </a:xfrm>
            <a:prstGeom prst="rect">
              <a:avLst/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Destination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9" name="Google Shape;169;p6"/>
            <p:cNvCxnSpPr>
              <a:stCxn id="166" idx="3"/>
              <a:endCxn id="167" idx="1"/>
            </p:cNvCxnSpPr>
            <p:nvPr/>
          </p:nvCxnSpPr>
          <p:spPr>
            <a:xfrm>
              <a:off x="3043619" y="4888617"/>
              <a:ext cx="7734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lg" w="lg" type="stealth"/>
            </a:ln>
          </p:spPr>
        </p:cxnSp>
        <p:cxnSp>
          <p:nvCxnSpPr>
            <p:cNvPr id="170" name="Google Shape;170;p6"/>
            <p:cNvCxnSpPr>
              <a:stCxn id="167" idx="3"/>
              <a:endCxn id="168" idx="1"/>
            </p:cNvCxnSpPr>
            <p:nvPr/>
          </p:nvCxnSpPr>
          <p:spPr>
            <a:xfrm>
              <a:off x="4896994" y="4888617"/>
              <a:ext cx="7200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lg" w="lg" type="stealth"/>
            </a:ln>
          </p:spPr>
        </p:cxnSp>
      </p:grpSp>
      <p:sp>
        <p:nvSpPr>
          <p:cNvPr id="171" name="Google Shape;171;p6"/>
          <p:cNvSpPr/>
          <p:nvPr/>
        </p:nvSpPr>
        <p:spPr>
          <a:xfrm>
            <a:off x="6324600" y="2514600"/>
            <a:ext cx="5503847" cy="1587431"/>
          </a:xfrm>
          <a:prstGeom prst="rect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332538" y="2651403"/>
            <a:ext cx="16062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AudioContext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 txBox="1"/>
          <p:nvPr>
            <p:ph type="title"/>
          </p:nvPr>
        </p:nvSpPr>
        <p:spPr>
          <a:xfrm>
            <a:off x="838200" y="195263"/>
            <a:ext cx="10515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What you need to get started</a:t>
            </a:r>
            <a:endParaRPr/>
          </a:p>
        </p:txBody>
      </p:sp>
      <p:sp>
        <p:nvSpPr>
          <p:cNvPr id="178" name="Google Shape;178;p7"/>
          <p:cNvSpPr txBox="1"/>
          <p:nvPr>
            <p:ph idx="1" type="body"/>
          </p:nvPr>
        </p:nvSpPr>
        <p:spPr>
          <a:xfrm>
            <a:off x="561975" y="1500188"/>
            <a:ext cx="11096625" cy="4891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4330" lvl="0" marL="3429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∙"/>
            </a:pPr>
            <a:r>
              <a:rPr b="1" lang="en-GB" sz="2400">
                <a:solidFill>
                  <a:srgbClr val="0070C0"/>
                </a:solidFill>
              </a:rPr>
              <a:t>web browser </a:t>
            </a:r>
            <a:r>
              <a:rPr lang="en-GB" sz="2400"/>
              <a:t>– Chrome has the most extensive implementation of the Web Audio API, though almost all features of the Web Audio API are implemented in other popular browsers</a:t>
            </a:r>
            <a:endParaRPr sz="2400"/>
          </a:p>
          <a:p>
            <a:pPr indent="-354330" lvl="0" marL="342900" rtl="0" algn="just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/>
              <a:t>keep the </a:t>
            </a:r>
            <a:r>
              <a:rPr b="1" lang="en-GB" sz="2400">
                <a:solidFill>
                  <a:srgbClr val="0070C0"/>
                </a:solidFill>
              </a:rPr>
              <a:t>Developer Console </a:t>
            </a:r>
            <a:r>
              <a:rPr lang="en-GB" sz="2400"/>
              <a:t>open in the browser, to see any error messages that appear</a:t>
            </a:r>
            <a:endParaRPr/>
          </a:p>
          <a:p>
            <a:pPr indent="-353377" lvl="1" marL="800089" rtl="0" algn="just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∙"/>
            </a:pPr>
            <a:r>
              <a:rPr lang="en-GB" sz="2200"/>
              <a:t>In Chrome, open the Menu in the upper-right-hand corner of the browser window and select More Tools 🡪 Developer Tools</a:t>
            </a:r>
            <a:endParaRPr sz="2200"/>
          </a:p>
          <a:p>
            <a:pPr indent="-354330" lvl="0" marL="342900" rtl="0" algn="just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∙"/>
            </a:pPr>
            <a:r>
              <a:rPr b="1" lang="en-GB" sz="2400">
                <a:solidFill>
                  <a:srgbClr val="0070C0"/>
                </a:solidFill>
              </a:rPr>
              <a:t>source code editor </a:t>
            </a:r>
            <a:r>
              <a:rPr lang="en-GB" sz="2400"/>
              <a:t>–any text editor designed specifically for editing source code.</a:t>
            </a:r>
            <a:r>
              <a:rPr lang="en-GB" sz="2400"/>
              <a:t> </a:t>
            </a:r>
            <a:r>
              <a:rPr lang="en-GB" sz="2400"/>
              <a:t>Visual Studio Code and Sublime Text are popular choices</a:t>
            </a:r>
            <a:endParaRPr/>
          </a:p>
          <a:p>
            <a:pPr indent="-354330" lvl="0" marL="342900" rtl="0" algn="just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∙"/>
            </a:pPr>
            <a:r>
              <a:rPr b="1" lang="en-GB" sz="2400">
                <a:solidFill>
                  <a:srgbClr val="0070C0"/>
                </a:solidFill>
              </a:rPr>
              <a:t>http server package </a:t>
            </a:r>
            <a:r>
              <a:rPr lang="en-GB" sz="2400"/>
              <a:t>– for most source code editors, this is an add-on. Many code examples will not run properly without a web server running, and launching the server with your project open is usually the best way to check your code</a:t>
            </a:r>
            <a:endParaRPr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 txBox="1"/>
          <p:nvPr>
            <p:ph type="title"/>
          </p:nvPr>
        </p:nvSpPr>
        <p:spPr>
          <a:xfrm>
            <a:off x="1395983" y="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HelloWorld.html</a:t>
            </a:r>
            <a:endParaRPr/>
          </a:p>
        </p:txBody>
      </p:sp>
      <p:sp>
        <p:nvSpPr>
          <p:cNvPr id="184" name="Google Shape;184;p8"/>
          <p:cNvSpPr txBox="1"/>
          <p:nvPr>
            <p:ph idx="1" type="body"/>
          </p:nvPr>
        </p:nvSpPr>
        <p:spPr>
          <a:xfrm>
            <a:off x="667512" y="5886994"/>
            <a:ext cx="11244072" cy="8111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Run in the Chrome browser to be certain of web audio api functionality</a:t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2677668" y="1440000"/>
            <a:ext cx="6836664" cy="363176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&lt;button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onclick=</a:t>
            </a:r>
            <a:r>
              <a:rPr lang="en-GB" sz="2300">
                <a:solidFill>
                  <a:srgbClr val="E6DB74"/>
                </a:solidFill>
                <a:latin typeface="Arial"/>
                <a:ea typeface="Arial"/>
                <a:cs typeface="Arial"/>
                <a:sym typeface="Arial"/>
              </a:rPr>
              <a:t>'context.resume()'</a:t>
            </a:r>
            <a:r>
              <a:rPr lang="en-GB" sz="23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r>
              <a:rPr lang="en-GB" sz="23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&lt;/button&gt;</a:t>
            </a:r>
            <a:endParaRPr sz="2300">
              <a:solidFill>
                <a:srgbClr val="F8F8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&lt;script&gt;</a:t>
            </a:r>
            <a:endParaRPr sz="2300">
              <a:solidFill>
                <a:srgbClr val="F8F8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r>
              <a:rPr lang="en-GB" sz="23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>
                <a:solidFill>
                  <a:srgbClr val="66D9EF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AudioContext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Tone</a:t>
            </a:r>
            <a:r>
              <a:rPr lang="en-GB" sz="23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createOscillator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Tone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Tone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connect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&lt;/script&gt;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9267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9267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8F8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 txBox="1"/>
          <p:nvPr>
            <p:ph type="title"/>
          </p:nvPr>
        </p:nvSpPr>
        <p:spPr>
          <a:xfrm>
            <a:off x="1395983" y="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HelloWorld.html</a:t>
            </a:r>
            <a:endParaRPr/>
          </a:p>
        </p:txBody>
      </p:sp>
      <p:sp>
        <p:nvSpPr>
          <p:cNvPr id="191" name="Google Shape;191;p9"/>
          <p:cNvSpPr txBox="1"/>
          <p:nvPr>
            <p:ph idx="1" type="body"/>
          </p:nvPr>
        </p:nvSpPr>
        <p:spPr>
          <a:xfrm>
            <a:off x="667512" y="5886994"/>
            <a:ext cx="11244072" cy="8111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Run in the Chrome browser to be certain of web audio api functionality</a:t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4083661" y="3765541"/>
            <a:ext cx="51402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'atom-text-editor':  'alt-a 1': 'copy-with-style:preset1'</a:t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4083661" y="3765541"/>
            <a:ext cx="51402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'atom-text-editor':  'alt-a 1': 'copy-with-style:preset1'</a:t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2677668" y="1440000"/>
            <a:ext cx="6836664" cy="363176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&lt;button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onclick=</a:t>
            </a:r>
            <a:r>
              <a:rPr lang="en-GB" sz="2300">
                <a:solidFill>
                  <a:srgbClr val="E6DB74"/>
                </a:solidFill>
                <a:latin typeface="Arial"/>
                <a:ea typeface="Arial"/>
                <a:cs typeface="Arial"/>
                <a:sym typeface="Arial"/>
              </a:rPr>
              <a:t>'context.resume()'</a:t>
            </a:r>
            <a:r>
              <a:rPr lang="en-GB" sz="23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r>
              <a:rPr lang="en-GB" sz="23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&lt;/button&gt;</a:t>
            </a:r>
            <a:endParaRPr sz="2300">
              <a:solidFill>
                <a:srgbClr val="F8F8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&lt;script&gt;</a:t>
            </a:r>
            <a:endParaRPr sz="2300">
              <a:solidFill>
                <a:srgbClr val="F8F8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GB" sz="2300">
                <a:solidFill>
                  <a:srgbClr val="66D9EF"/>
                </a:solidFill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r>
              <a:rPr lang="en-GB" sz="23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>
                <a:solidFill>
                  <a:srgbClr val="66D9EF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AudioContext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GB" sz="2300">
                <a:solidFill>
                  <a:srgbClr val="66D9EF"/>
                </a:solidFill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Tone</a:t>
            </a:r>
            <a:r>
              <a:rPr lang="en-GB" sz="23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createOscillator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GB" sz="2300">
                <a:solidFill>
                  <a:srgbClr val="66D9EF"/>
                </a:solidFill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Volume</a:t>
            </a:r>
            <a:r>
              <a:rPr lang="en-GB" sz="23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createGain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Volume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gain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lang="en-GB" sz="23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GB" sz="2300">
                <a:solidFill>
                  <a:srgbClr val="AE81FF"/>
                </a:solidFill>
                <a:latin typeface="Arial"/>
                <a:ea typeface="Arial"/>
                <a:cs typeface="Arial"/>
                <a:sym typeface="Arial"/>
              </a:rPr>
              <a:t>0.25</a:t>
            </a:r>
            <a:endParaRPr sz="2300">
              <a:solidFill>
                <a:srgbClr val="F8F8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Tone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Tone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connect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Volume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Volume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connect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&lt;/script&gt;</a:t>
            </a:r>
            <a:endParaRPr sz="2300">
              <a:solidFill>
                <a:srgbClr val="F8F8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 txBox="1"/>
          <p:nvPr>
            <p:ph type="title"/>
          </p:nvPr>
        </p:nvSpPr>
        <p:spPr>
          <a:xfrm>
            <a:off x="1395983" y="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HelloWorld.html</a:t>
            </a:r>
            <a:endParaRPr/>
          </a:p>
        </p:txBody>
      </p:sp>
      <p:sp>
        <p:nvSpPr>
          <p:cNvPr id="200" name="Google Shape;200;p10"/>
          <p:cNvSpPr txBox="1"/>
          <p:nvPr>
            <p:ph idx="1" type="body"/>
          </p:nvPr>
        </p:nvSpPr>
        <p:spPr>
          <a:xfrm>
            <a:off x="667512" y="5886994"/>
            <a:ext cx="11244072" cy="8111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Run in the Chrome browser to be certain of web audio api functionality</a:t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2677668" y="1440000"/>
            <a:ext cx="6836664" cy="363176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&lt;button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onclick=</a:t>
            </a:r>
            <a:r>
              <a:rPr lang="en-GB" sz="2300">
                <a:solidFill>
                  <a:srgbClr val="E6DB74"/>
                </a:solidFill>
                <a:latin typeface="Arial"/>
                <a:ea typeface="Arial"/>
                <a:cs typeface="Arial"/>
                <a:sym typeface="Arial"/>
              </a:rPr>
              <a:t>'context.resume()'</a:t>
            </a:r>
            <a:r>
              <a:rPr lang="en-GB" sz="23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r>
              <a:rPr lang="en-GB" sz="23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&lt;/button&gt;</a:t>
            </a:r>
            <a:endParaRPr sz="2300">
              <a:solidFill>
                <a:srgbClr val="F8F8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&lt;script&gt;</a:t>
            </a:r>
            <a:endParaRPr sz="2300">
              <a:solidFill>
                <a:srgbClr val="F8F8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GB" sz="2300">
                <a:solidFill>
                  <a:srgbClr val="66D9EF"/>
                </a:solidFill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r>
              <a:rPr lang="en-GB" sz="23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>
                <a:solidFill>
                  <a:srgbClr val="66D9EF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AudioContext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GB" sz="2300">
                <a:solidFill>
                  <a:srgbClr val="66D9EF"/>
                </a:solidFill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Tone</a:t>
            </a:r>
            <a:r>
              <a:rPr lang="en-GB" sz="23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>
                <a:solidFill>
                  <a:srgbClr val="66D9EF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OscillatorNode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GB" sz="2300">
                <a:solidFill>
                  <a:srgbClr val="66D9EF"/>
                </a:solidFill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Volume</a:t>
            </a:r>
            <a:r>
              <a:rPr lang="en-GB" sz="23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>
                <a:solidFill>
                  <a:srgbClr val="66D9EF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GainNode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,{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gain</a:t>
            </a:r>
            <a:r>
              <a:rPr lang="en-GB" sz="23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GB" sz="2300">
                <a:solidFill>
                  <a:srgbClr val="AE81FF"/>
                </a:solidFill>
                <a:latin typeface="Arial"/>
                <a:ea typeface="Arial"/>
                <a:cs typeface="Arial"/>
                <a:sym typeface="Arial"/>
              </a:rPr>
              <a:t>0.25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})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Tone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Tone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connect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Volume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connect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23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r>
              <a:rPr lang="en-GB" sz="23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&lt;/script&gt;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9267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8F8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FD8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 txBox="1"/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Example Code: Hello World</a:t>
            </a:r>
            <a:endParaRPr/>
          </a:p>
        </p:txBody>
      </p:sp>
      <p:sp>
        <p:nvSpPr>
          <p:cNvPr id="207" name="Google Shape;207;p11"/>
          <p:cNvSpPr txBox="1"/>
          <p:nvPr/>
        </p:nvSpPr>
        <p:spPr>
          <a:xfrm>
            <a:off x="756600" y="2125800"/>
            <a:ext cx="10678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https://github.com/joshreiss/Working-with-the-Web-Audio-API</a:t>
            </a: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https://joshreiss.github.io/Working-with-the-Web-Audio-API/</a:t>
            </a: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"/>
          <p:cNvSpPr txBox="1"/>
          <p:nvPr>
            <p:ph type="title"/>
          </p:nvPr>
        </p:nvSpPr>
        <p:spPr>
          <a:xfrm>
            <a:off x="838200" y="0"/>
            <a:ext cx="10515600" cy="9254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Adding User Interaction</a:t>
            </a:r>
            <a:endParaRPr/>
          </a:p>
        </p:txBody>
      </p:sp>
      <p:sp>
        <p:nvSpPr>
          <p:cNvPr id="213" name="Google Shape;213;p12"/>
          <p:cNvSpPr txBox="1"/>
          <p:nvPr>
            <p:ph idx="1" type="body"/>
          </p:nvPr>
        </p:nvSpPr>
        <p:spPr>
          <a:xfrm>
            <a:off x="440676" y="837282"/>
            <a:ext cx="11633812" cy="5365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5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 sz="2800"/>
              <a:t>Good practice to separate interface (html) from procedure (javascript)</a:t>
            </a:r>
            <a:endParaRPr/>
          </a:p>
          <a:p>
            <a:pPr indent="-228594" lvl="0" marL="228594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 sz="2800"/>
              <a:t>Just set audio parameters to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sz="2800"/>
              <a:t>      change on interface callbacks</a:t>
            </a:r>
            <a:endParaRPr sz="2800"/>
          </a:p>
        </p:txBody>
      </p:sp>
      <p:sp>
        <p:nvSpPr>
          <p:cNvPr id="214" name="Google Shape;214;p12"/>
          <p:cNvSpPr/>
          <p:nvPr/>
        </p:nvSpPr>
        <p:spPr>
          <a:xfrm>
            <a:off x="217725" y="2781225"/>
            <a:ext cx="6442200" cy="1814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&lt;button</a:t>
            </a:r>
            <a:r>
              <a:rPr lang="en-GB" sz="18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onclick=</a:t>
            </a:r>
            <a:r>
              <a:rPr lang="en-GB" sz="1800">
                <a:solidFill>
                  <a:srgbClr val="E6DB74"/>
                </a:solidFill>
                <a:latin typeface="Arial"/>
                <a:ea typeface="Arial"/>
                <a:cs typeface="Arial"/>
                <a:sym typeface="Arial"/>
              </a:rPr>
              <a:t>'StartStop()'</a:t>
            </a:r>
            <a:r>
              <a:rPr lang="en-GB" sz="18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-GB" sz="18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Start/Stop</a:t>
            </a:r>
            <a:r>
              <a:rPr lang="en-GB" sz="18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&lt;/button&gt;</a:t>
            </a:r>
            <a:endParaRPr sz="1800">
              <a:solidFill>
                <a:srgbClr val="F8F8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&lt;p&gt;</a:t>
            </a:r>
            <a:r>
              <a:rPr lang="en-GB" sz="18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Gain</a:t>
            </a:r>
            <a:r>
              <a:rPr lang="en-GB" sz="18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&lt;/p&gt;</a:t>
            </a:r>
            <a:endParaRPr sz="1800">
              <a:solidFill>
                <a:srgbClr val="F8F8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&lt;input</a:t>
            </a:r>
            <a:r>
              <a:rPr lang="en-GB" sz="18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type=</a:t>
            </a:r>
            <a:r>
              <a:rPr lang="en-GB" sz="1800">
                <a:solidFill>
                  <a:srgbClr val="E6DB74"/>
                </a:solidFill>
                <a:latin typeface="Arial"/>
                <a:ea typeface="Arial"/>
                <a:cs typeface="Arial"/>
                <a:sym typeface="Arial"/>
              </a:rPr>
              <a:t>'range'</a:t>
            </a:r>
            <a:r>
              <a:rPr lang="en-GB" sz="18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max=</a:t>
            </a:r>
            <a:r>
              <a:rPr lang="en-GB" sz="1800">
                <a:solidFill>
                  <a:srgbClr val="E6DB7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GB" sz="18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value=</a:t>
            </a:r>
            <a:r>
              <a:rPr lang="en-GB" sz="1800">
                <a:solidFill>
                  <a:srgbClr val="E6DB74"/>
                </a:solidFill>
                <a:latin typeface="Arial"/>
                <a:ea typeface="Arial"/>
                <a:cs typeface="Arial"/>
                <a:sym typeface="Arial"/>
              </a:rPr>
              <a:t>0.1</a:t>
            </a:r>
            <a:r>
              <a:rPr lang="en-GB" sz="18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step=</a:t>
            </a:r>
            <a:r>
              <a:rPr lang="en-GB" sz="1800">
                <a:solidFill>
                  <a:srgbClr val="E6DB74"/>
                </a:solidFill>
                <a:latin typeface="Arial"/>
                <a:ea typeface="Arial"/>
                <a:cs typeface="Arial"/>
                <a:sym typeface="Arial"/>
              </a:rPr>
              <a:t>0.01</a:t>
            </a:r>
            <a:r>
              <a:rPr lang="en-GB" sz="18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id=</a:t>
            </a:r>
            <a:r>
              <a:rPr lang="en-GB" sz="1800">
                <a:solidFill>
                  <a:srgbClr val="E6DB74"/>
                </a:solidFill>
                <a:latin typeface="Arial"/>
                <a:ea typeface="Arial"/>
                <a:cs typeface="Arial"/>
                <a:sym typeface="Arial"/>
              </a:rPr>
              <a:t>'VolumeSlider'</a:t>
            </a:r>
            <a:r>
              <a:rPr lang="en-GB" sz="18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800">
              <a:solidFill>
                <a:srgbClr val="F8F8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&lt;span</a:t>
            </a:r>
            <a:r>
              <a:rPr lang="en-GB" sz="18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id=</a:t>
            </a:r>
            <a:r>
              <a:rPr lang="en-GB" sz="1800">
                <a:solidFill>
                  <a:srgbClr val="E6DB74"/>
                </a:solidFill>
                <a:latin typeface="Arial"/>
                <a:ea typeface="Arial"/>
                <a:cs typeface="Arial"/>
                <a:sym typeface="Arial"/>
              </a:rPr>
              <a:t>'VolumeLabel'</a:t>
            </a:r>
            <a:r>
              <a:rPr lang="en-GB" sz="18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&gt;&lt;/span&gt;</a:t>
            </a:r>
            <a:endParaRPr sz="1800">
              <a:solidFill>
                <a:srgbClr val="F8F8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&lt;script </a:t>
            </a:r>
            <a:r>
              <a:rPr lang="en-GB" sz="18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src=</a:t>
            </a:r>
            <a:r>
              <a:rPr lang="en-GB" sz="1800">
                <a:solidFill>
                  <a:srgbClr val="E6DB74"/>
                </a:solidFill>
                <a:latin typeface="Arial"/>
                <a:ea typeface="Arial"/>
                <a:cs typeface="Arial"/>
                <a:sym typeface="Arial"/>
              </a:rPr>
              <a:t>'UserInteraction.js'</a:t>
            </a:r>
            <a:r>
              <a:rPr lang="en-GB" sz="18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&gt;&lt;/script&gt;</a:t>
            </a:r>
            <a:endParaRPr sz="1800">
              <a:solidFill>
                <a:srgbClr val="F8F8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7021286" y="1408612"/>
            <a:ext cx="4953000" cy="532453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66D9EF"/>
                </a:solidFill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solidFill>
                  <a:srgbClr val="66D9EF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AudioContext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66D9EF"/>
                </a:solidFill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Tone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createOscillator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66D9EF"/>
                </a:solidFill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Volume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solidFill>
                  <a:srgbClr val="66D9EF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GainNode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,{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gain</a:t>
            </a:r>
            <a:r>
              <a:rPr lang="en-GB" sz="17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GB" sz="1700">
                <a:solidFill>
                  <a:srgbClr val="AE81FF"/>
                </a:solidFill>
                <a:latin typeface="Arial"/>
                <a:ea typeface="Arial"/>
                <a:cs typeface="Arial"/>
                <a:sym typeface="Arial"/>
              </a:rPr>
              <a:t>0.1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})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Tone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66D9EF"/>
                </a:solidFill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Connected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solidFill>
                  <a:srgbClr val="66D9EF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endParaRPr sz="1700">
              <a:solidFill>
                <a:srgbClr val="F8F8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Volume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connect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66D9EF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StartStop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GB" sz="1700">
                <a:solidFill>
                  <a:srgbClr val="66D9EF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Connected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==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solidFill>
                  <a:srgbClr val="66D9EF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resume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Tone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connect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Volume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Connected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solidFill>
                  <a:srgbClr val="66D9EF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sz="1700">
              <a:solidFill>
                <a:srgbClr val="F8F8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 } </a:t>
            </a:r>
            <a:r>
              <a:rPr lang="en-GB" sz="1700">
                <a:solidFill>
                  <a:srgbClr val="66D9EF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Connected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solidFill>
                  <a:srgbClr val="66D9EF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endParaRPr sz="1700">
              <a:solidFill>
                <a:srgbClr val="F8F8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Tone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disconnect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Volume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VolumeSlider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oninput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solidFill>
                  <a:srgbClr val="66D9EF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VolumeLabel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innerHTML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solidFill>
                  <a:srgbClr val="66D9EF"/>
                </a:solidFill>
                <a:latin typeface="Arial"/>
                <a:ea typeface="Arial"/>
                <a:cs typeface="Arial"/>
                <a:sym typeface="Arial"/>
              </a:rPr>
              <a:t>this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 sz="1700">
              <a:solidFill>
                <a:srgbClr val="F8F8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Volume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gain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solidFill>
                  <a:srgbClr val="F92672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solidFill>
                  <a:srgbClr val="66D9EF"/>
                </a:solidFill>
                <a:latin typeface="Arial"/>
                <a:ea typeface="Arial"/>
                <a:cs typeface="Arial"/>
                <a:sym typeface="Arial"/>
              </a:rPr>
              <a:t>this</a:t>
            </a: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700">
                <a:solidFill>
                  <a:srgbClr val="A6E22E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 sz="1700">
              <a:solidFill>
                <a:srgbClr val="F8F8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8F8F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FD8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"/>
          <p:cNvSpPr txBox="1"/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Example Code: User Interaction</a:t>
            </a:r>
            <a:endParaRPr/>
          </a:p>
        </p:txBody>
      </p:sp>
      <p:sp>
        <p:nvSpPr>
          <p:cNvPr id="221" name="Google Shape;221;p13"/>
          <p:cNvSpPr txBox="1"/>
          <p:nvPr/>
        </p:nvSpPr>
        <p:spPr>
          <a:xfrm>
            <a:off x="756600" y="2125800"/>
            <a:ext cx="10678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https://github.com/joshreiss/Working-with-the-Web-Audio-API</a:t>
            </a: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https://joshreiss.github.io/Working-with-the-Web-Audio-API/</a:t>
            </a: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2018-10-17T13:21:35Z</dcterms:created>
  <dc:creator>Joshua Reiss</dc:creator>
</cp:coreProperties>
</file>